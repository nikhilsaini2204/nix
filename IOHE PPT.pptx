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144000"/>
  <p:notesSz cx="7559675" cy="106914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9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90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276600" cy="5365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281488" y="0"/>
            <a:ext cx="3276600" cy="536575"/>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1:notes"/>
          <p:cNvSpPr txBox="1"/>
          <p:nvPr>
            <p:ph idx="1" type="body"/>
          </p:nvPr>
        </p:nvSpPr>
        <p:spPr>
          <a:xfrm>
            <a:off x="755650" y="5145088"/>
            <a:ext cx="6048375" cy="42100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1:notes"/>
          <p:cNvSpPr txBox="1"/>
          <p:nvPr>
            <p:ph idx="12" type="sldNum"/>
          </p:nvPr>
        </p:nvSpPr>
        <p:spPr>
          <a:xfrm>
            <a:off x="4281488" y="10155238"/>
            <a:ext cx="3276600" cy="536575"/>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82" name="Google Shape;82;p1:notes"/>
          <p:cNvSpPr txBox="1"/>
          <p:nvPr>
            <p:ph idx="11" type="ftr"/>
          </p:nvPr>
        </p:nvSpPr>
        <p:spPr>
          <a:xfrm>
            <a:off x="0" y="10155238"/>
            <a:ext cx="3276600" cy="53657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None/>
            </a:pPr>
            <a:r>
              <a:rPr lang="en-US"/>
              <a:t>Name of the faculty [Group: G00] [Sem:2nd]</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8: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8: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9: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9: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0: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10: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1:notes"/>
          <p:cNvSpPr txBox="1"/>
          <p:nvPr>
            <p:ph idx="1" type="body"/>
          </p:nvPr>
        </p:nvSpPr>
        <p:spPr>
          <a:xfrm>
            <a:off x="755650" y="5145088"/>
            <a:ext cx="6048375" cy="42100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11:notes"/>
          <p:cNvSpPr/>
          <p:nvPr>
            <p:ph idx="2" type="sldImg"/>
          </p:nvPr>
        </p:nvSpPr>
        <p:spPr>
          <a:xfrm>
            <a:off x="1374775" y="1336675"/>
            <a:ext cx="4810125" cy="360838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0" name="Shape 3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31" name="Shape 31"/>
        <p:cNvGrpSpPr/>
        <p:nvPr/>
      </p:nvGrpSpPr>
      <p:grpSpPr>
        <a:xfrm>
          <a:off x="0" y="0"/>
          <a:ext cx="0" cy="0"/>
          <a:chOff x="0" y="0"/>
          <a:chExt cx="0" cy="0"/>
        </a:xfrm>
      </p:grpSpPr>
      <p:sp>
        <p:nvSpPr>
          <p:cNvPr id="32" name="Google Shape;32;p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3"/>
          <p:cNvSpPr txBox="1"/>
          <p:nvPr>
            <p:ph idx="1" type="subTitle"/>
          </p:nvPr>
        </p:nvSpPr>
        <p:spPr>
          <a:xfrm>
            <a:off x="457200" y="1604520"/>
            <a:ext cx="8229240" cy="3977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34" name="Shape 34"/>
        <p:cNvGrpSpPr/>
        <p:nvPr/>
      </p:nvGrpSpPr>
      <p:grpSpPr>
        <a:xfrm>
          <a:off x="0" y="0"/>
          <a:ext cx="0" cy="0"/>
          <a:chOff x="0" y="0"/>
          <a:chExt cx="0" cy="0"/>
        </a:xfrm>
      </p:grpSpPr>
      <p:sp>
        <p:nvSpPr>
          <p:cNvPr id="35" name="Google Shape;35;p4"/>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4"/>
          <p:cNvSpPr txBox="1"/>
          <p:nvPr>
            <p:ph idx="1" type="body"/>
          </p:nvPr>
        </p:nvSpPr>
        <p:spPr>
          <a:xfrm>
            <a:off x="457200" y="1604520"/>
            <a:ext cx="8229240" cy="397728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37" name="Shape 37"/>
        <p:cNvGrpSpPr/>
        <p:nvPr/>
      </p:nvGrpSpPr>
      <p:grpSpPr>
        <a:xfrm>
          <a:off x="0" y="0"/>
          <a:ext cx="0" cy="0"/>
          <a:chOff x="0" y="0"/>
          <a:chExt cx="0" cy="0"/>
        </a:xfrm>
      </p:grpSpPr>
      <p:sp>
        <p:nvSpPr>
          <p:cNvPr id="38" name="Google Shape;38;p5"/>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5"/>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43" name="Shape 43"/>
        <p:cNvGrpSpPr/>
        <p:nvPr/>
      </p:nvGrpSpPr>
      <p:grpSpPr>
        <a:xfrm>
          <a:off x="0" y="0"/>
          <a:ext cx="0" cy="0"/>
          <a:chOff x="0" y="0"/>
          <a:chExt cx="0" cy="0"/>
        </a:xfrm>
      </p:grpSpPr>
      <p:sp>
        <p:nvSpPr>
          <p:cNvPr id="44" name="Google Shape;44;p7"/>
          <p:cNvSpPr txBox="1"/>
          <p:nvPr>
            <p:ph idx="1" type="subTitle"/>
          </p:nvPr>
        </p:nvSpPr>
        <p:spPr>
          <a:xfrm>
            <a:off x="0" y="0"/>
            <a:ext cx="5486040" cy="423828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45" name="Shape 45"/>
        <p:cNvGrpSpPr/>
        <p:nvPr/>
      </p:nvGrpSpPr>
      <p:grpSpPr>
        <a:xfrm>
          <a:off x="0" y="0"/>
          <a:ext cx="0" cy="0"/>
          <a:chOff x="0" y="0"/>
          <a:chExt cx="0" cy="0"/>
        </a:xfrm>
      </p:grpSpPr>
      <p:sp>
        <p:nvSpPr>
          <p:cNvPr id="46" name="Google Shape;46;p8"/>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8"/>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8"/>
          <p:cNvSpPr txBox="1"/>
          <p:nvPr>
            <p:ph idx="2" type="body"/>
          </p:nvPr>
        </p:nvSpPr>
        <p:spPr>
          <a:xfrm>
            <a:off x="4674240" y="1604520"/>
            <a:ext cx="4015800" cy="397728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8"/>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50" name="Shape 50"/>
        <p:cNvGrpSpPr/>
        <p:nvPr/>
      </p:nvGrpSpPr>
      <p:grpSpPr>
        <a:xfrm>
          <a:off x="0" y="0"/>
          <a:ext cx="0" cy="0"/>
          <a:chOff x="0" y="0"/>
          <a:chExt cx="0" cy="0"/>
        </a:xfrm>
      </p:grpSpPr>
      <p:sp>
        <p:nvSpPr>
          <p:cNvPr id="51" name="Google Shape;51;p9"/>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9"/>
          <p:cNvSpPr txBox="1"/>
          <p:nvPr>
            <p:ph idx="1" type="body"/>
          </p:nvPr>
        </p:nvSpPr>
        <p:spPr>
          <a:xfrm>
            <a:off x="457200" y="1604520"/>
            <a:ext cx="4015800" cy="397728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9"/>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9"/>
          <p:cNvSpPr txBox="1"/>
          <p:nvPr>
            <p:ph idx="3"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55" name="Shape 55"/>
        <p:cNvGrpSpPr/>
        <p:nvPr/>
      </p:nvGrpSpPr>
      <p:grpSpPr>
        <a:xfrm>
          <a:off x="0" y="0"/>
          <a:ext cx="0" cy="0"/>
          <a:chOff x="0" y="0"/>
          <a:chExt cx="0" cy="0"/>
        </a:xfrm>
      </p:grpSpPr>
      <p:sp>
        <p:nvSpPr>
          <p:cNvPr id="56" name="Google Shape;56;p1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0"/>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8" name="Google Shape;58;p10"/>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0"/>
          <p:cNvSpPr txBox="1"/>
          <p:nvPr>
            <p:ph idx="3"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60" name="Shape 60"/>
        <p:cNvGrpSpPr/>
        <p:nvPr/>
      </p:nvGrpSpPr>
      <p:grpSpPr>
        <a:xfrm>
          <a:off x="0" y="0"/>
          <a:ext cx="0" cy="0"/>
          <a:chOff x="0" y="0"/>
          <a:chExt cx="0" cy="0"/>
        </a:xfrm>
      </p:grpSpPr>
      <p:sp>
        <p:nvSpPr>
          <p:cNvPr id="61" name="Google Shape;61;p11"/>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1"/>
          <p:cNvSpPr txBox="1"/>
          <p:nvPr>
            <p:ph idx="1" type="body"/>
          </p:nvPr>
        </p:nvSpPr>
        <p:spPr>
          <a:xfrm>
            <a:off x="457200" y="1604520"/>
            <a:ext cx="822924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11"/>
          <p:cNvSpPr txBox="1"/>
          <p:nvPr>
            <p:ph idx="2" type="body"/>
          </p:nvPr>
        </p:nvSpPr>
        <p:spPr>
          <a:xfrm>
            <a:off x="457200" y="3682080"/>
            <a:ext cx="822924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64" name="Shape 64"/>
        <p:cNvGrpSpPr/>
        <p:nvPr/>
      </p:nvGrpSpPr>
      <p:grpSpPr>
        <a:xfrm>
          <a:off x="0" y="0"/>
          <a:ext cx="0" cy="0"/>
          <a:chOff x="0" y="0"/>
          <a:chExt cx="0" cy="0"/>
        </a:xfrm>
      </p:grpSpPr>
      <p:sp>
        <p:nvSpPr>
          <p:cNvPr id="65" name="Google Shape;65;p12"/>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12"/>
          <p:cNvSpPr txBox="1"/>
          <p:nvPr>
            <p:ph idx="1" type="body"/>
          </p:nvPr>
        </p:nvSpPr>
        <p:spPr>
          <a:xfrm>
            <a:off x="457200" y="160452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7" name="Google Shape;67;p12"/>
          <p:cNvSpPr txBox="1"/>
          <p:nvPr>
            <p:ph idx="2" type="body"/>
          </p:nvPr>
        </p:nvSpPr>
        <p:spPr>
          <a:xfrm>
            <a:off x="4674240" y="160452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8" name="Google Shape;68;p12"/>
          <p:cNvSpPr txBox="1"/>
          <p:nvPr>
            <p:ph idx="3" type="body"/>
          </p:nvPr>
        </p:nvSpPr>
        <p:spPr>
          <a:xfrm>
            <a:off x="457200" y="368208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12"/>
          <p:cNvSpPr txBox="1"/>
          <p:nvPr>
            <p:ph idx="4" type="body"/>
          </p:nvPr>
        </p:nvSpPr>
        <p:spPr>
          <a:xfrm>
            <a:off x="4674240" y="3682080"/>
            <a:ext cx="40158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70" name="Shape 70"/>
        <p:cNvGrpSpPr/>
        <p:nvPr/>
      </p:nvGrpSpPr>
      <p:grpSpPr>
        <a:xfrm>
          <a:off x="0" y="0"/>
          <a:ext cx="0" cy="0"/>
          <a:chOff x="0" y="0"/>
          <a:chExt cx="0" cy="0"/>
        </a:xfrm>
      </p:grpSpPr>
      <p:sp>
        <p:nvSpPr>
          <p:cNvPr id="71" name="Google Shape;71;p13"/>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4400"/>
              <a:buFont typeface="Times New Roman"/>
              <a:buNone/>
              <a:defRPr>
                <a:latin typeface="Times New Roman"/>
                <a:ea typeface="Times New Roman"/>
                <a:cs typeface="Times New Roman"/>
                <a:sym typeface="Times New Roman"/>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3"/>
          <p:cNvSpPr txBox="1"/>
          <p:nvPr>
            <p:ph idx="1" type="body"/>
          </p:nvPr>
        </p:nvSpPr>
        <p:spPr>
          <a:xfrm>
            <a:off x="457200" y="1604520"/>
            <a:ext cx="26496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3" name="Google Shape;73;p13"/>
          <p:cNvSpPr txBox="1"/>
          <p:nvPr>
            <p:ph idx="2" type="body"/>
          </p:nvPr>
        </p:nvSpPr>
        <p:spPr>
          <a:xfrm>
            <a:off x="3239640" y="1604520"/>
            <a:ext cx="26496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4" name="Google Shape;74;p13"/>
          <p:cNvSpPr txBox="1"/>
          <p:nvPr>
            <p:ph idx="3" type="body"/>
          </p:nvPr>
        </p:nvSpPr>
        <p:spPr>
          <a:xfrm>
            <a:off x="6022080" y="1604520"/>
            <a:ext cx="26496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13"/>
          <p:cNvSpPr txBox="1"/>
          <p:nvPr>
            <p:ph idx="4" type="body"/>
          </p:nvPr>
        </p:nvSpPr>
        <p:spPr>
          <a:xfrm>
            <a:off x="457200" y="3682080"/>
            <a:ext cx="26496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6" name="Google Shape;76;p13"/>
          <p:cNvSpPr txBox="1"/>
          <p:nvPr>
            <p:ph idx="5" type="body"/>
          </p:nvPr>
        </p:nvSpPr>
        <p:spPr>
          <a:xfrm>
            <a:off x="3239640" y="3682080"/>
            <a:ext cx="26496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3"/>
          <p:cNvSpPr txBox="1"/>
          <p:nvPr>
            <p:ph idx="6" type="body"/>
          </p:nvPr>
        </p:nvSpPr>
        <p:spPr>
          <a:xfrm>
            <a:off x="6022080" y="3682080"/>
            <a:ext cx="2649600" cy="1896840"/>
          </a:xfrm>
          <a:prstGeom prst="rect">
            <a:avLst/>
          </a:prstGeom>
          <a:noFill/>
          <a:ln>
            <a:noFill/>
          </a:ln>
        </p:spPr>
        <p:txBody>
          <a:bodyPr anchorCtr="0" anchor="t" bIns="0" lIns="0" spcFirstLastPara="1" rIns="0" wrap="square" tIns="0">
            <a:normAutofit/>
          </a:bodyPr>
          <a:lstStyle>
            <a:lvl1pPr indent="-406400" lvl="0" marL="457200" algn="l">
              <a:lnSpc>
                <a:spcPct val="90000"/>
              </a:lnSpc>
              <a:spcBef>
                <a:spcPts val="1000"/>
              </a:spcBef>
              <a:spcAft>
                <a:spcPts val="0"/>
              </a:spcAft>
              <a:buClr>
                <a:schemeClr val="dk1"/>
              </a:buClr>
              <a:buSzPts val="2800"/>
              <a:buChar char="•"/>
              <a:defRPr>
                <a:latin typeface="Times New Roman"/>
                <a:ea typeface="Times New Roman"/>
                <a:cs typeface="Times New Roman"/>
                <a:sym typeface="Times New Roman"/>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jp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1.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1"/>
          <p:cNvSpPr/>
          <p:nvPr/>
        </p:nvSpPr>
        <p:spPr>
          <a:xfrm>
            <a:off x="0" y="0"/>
            <a:ext cx="914364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
          <p:cNvSpPr/>
          <p:nvPr/>
        </p:nvSpPr>
        <p:spPr>
          <a:xfrm flipH="1" rot="10800000">
            <a:off x="0" y="6704640"/>
            <a:ext cx="9143640" cy="197640"/>
          </a:xfrm>
          <a:prstGeom prst="rect">
            <a:avLst/>
          </a:prstGeom>
          <a:solidFill>
            <a:srgbClr val="FF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2" name="Google Shape;12;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pic>
        <p:nvPicPr>
          <p:cNvPr descr="LOGO.gif" id="13" name="Google Shape;13;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14" name="Google Shape;14;p1"/>
          <p:cNvGrpSpPr/>
          <p:nvPr/>
        </p:nvGrpSpPr>
        <p:grpSpPr>
          <a:xfrm>
            <a:off x="6146640" y="0"/>
            <a:ext cx="2997000" cy="875880"/>
            <a:chOff x="6146640" y="0"/>
            <a:chExt cx="2997000" cy="875880"/>
          </a:xfrm>
        </p:grpSpPr>
        <p:sp>
          <p:nvSpPr>
            <p:cNvPr id="15" name="Google Shape;15;p1"/>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16" name="Google Shape;16;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17" name="Google Shape;17;p1"/>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18" name="Google Shape;18;p1"/>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pic>
        <p:nvPicPr>
          <p:cNvPr descr="LOGO.gif" id="19" name="Google Shape;19;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grpSp>
        <p:nvGrpSpPr>
          <p:cNvPr id="20" name="Google Shape;20;p1"/>
          <p:cNvGrpSpPr/>
          <p:nvPr/>
        </p:nvGrpSpPr>
        <p:grpSpPr>
          <a:xfrm>
            <a:off x="6146640" y="0"/>
            <a:ext cx="2997000" cy="875880"/>
            <a:chOff x="6146640" y="0"/>
            <a:chExt cx="2997000" cy="875880"/>
          </a:xfrm>
        </p:grpSpPr>
        <p:sp>
          <p:nvSpPr>
            <p:cNvPr id="21" name="Google Shape;21;p1"/>
            <p:cNvSpPr/>
            <p:nvPr/>
          </p:nvSpPr>
          <p:spPr>
            <a:xfrm>
              <a:off x="6146640" y="0"/>
              <a:ext cx="2997000" cy="837720"/>
            </a:xfrm>
            <a:prstGeom prst="rect">
              <a:avLst/>
            </a:prstGeom>
            <a:solidFill>
              <a:srgbClr val="FF33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LOGO.gif" id="22" name="Google Shape;22;p1"/>
            <p:cNvPicPr preferRelativeResize="0"/>
            <p:nvPr/>
          </p:nvPicPr>
          <p:blipFill rotWithShape="1">
            <a:blip r:embed="rId1">
              <a:alphaModFix/>
            </a:blip>
            <a:srcRect b="10718" l="0" r="0" t="0"/>
            <a:stretch/>
          </p:blipFill>
          <p:spPr>
            <a:xfrm>
              <a:off x="6553080" y="228600"/>
              <a:ext cx="2057040" cy="634680"/>
            </a:xfrm>
            <a:prstGeom prst="rect">
              <a:avLst/>
            </a:prstGeom>
            <a:noFill/>
            <a:ln>
              <a:noFill/>
            </a:ln>
          </p:spPr>
        </p:pic>
        <p:sp>
          <p:nvSpPr>
            <p:cNvPr id="23" name="Google Shape;23;p1"/>
            <p:cNvSpPr/>
            <p:nvPr/>
          </p:nvSpPr>
          <p:spPr>
            <a:xfrm>
              <a:off x="6527880" y="190440"/>
              <a:ext cx="2076120" cy="68544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logo.jpg" id="24" name="Google Shape;24;p1"/>
          <p:cNvPicPr preferRelativeResize="0"/>
          <p:nvPr/>
        </p:nvPicPr>
        <p:blipFill rotWithShape="1">
          <a:blip r:embed="rId2">
            <a:alphaModFix/>
          </a:blip>
          <a:srcRect b="0" l="0" r="0" t="0"/>
          <a:stretch/>
        </p:blipFill>
        <p:spPr>
          <a:xfrm>
            <a:off x="6553080" y="228600"/>
            <a:ext cx="1920600" cy="609120"/>
          </a:xfrm>
          <a:prstGeom prst="rect">
            <a:avLst/>
          </a:prstGeom>
          <a:noFill/>
          <a:ln>
            <a:noFill/>
          </a:ln>
        </p:spPr>
      </p:pic>
      <p:sp>
        <p:nvSpPr>
          <p:cNvPr id="25" name="Google Shape;25;p1"/>
          <p:cNvSpPr txBox="1"/>
          <p:nvPr>
            <p:ph type="title"/>
          </p:nvPr>
        </p:nvSpPr>
        <p:spPr>
          <a:xfrm>
            <a:off x="0" y="0"/>
            <a:ext cx="6476760" cy="837720"/>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Times New Roman"/>
              <a:buNone/>
              <a:defRPr b="0" i="0" sz="4400" u="none" cap="none" strike="noStrike">
                <a:solidFill>
                  <a:schemeClr val="dk1"/>
                </a:solidFill>
                <a:latin typeface="Times New Roman"/>
                <a:ea typeface="Times New Roman"/>
                <a:cs typeface="Times New Roman"/>
                <a:sym typeface="Times New Roma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26" name="Google Shape;26;p1"/>
          <p:cNvSpPr txBox="1"/>
          <p:nvPr>
            <p:ph idx="1" type="body"/>
          </p:nvPr>
        </p:nvSpPr>
        <p:spPr>
          <a:xfrm>
            <a:off x="457200" y="1371600"/>
            <a:ext cx="8229240" cy="452556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Times New Roman"/>
                <a:ea typeface="Times New Roman"/>
                <a:cs typeface="Times New Roman"/>
                <a:sym typeface="Times New Roman"/>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Times New Roman"/>
                <a:ea typeface="Times New Roman"/>
                <a:cs typeface="Times New Roman"/>
                <a:sym typeface="Times New Roman"/>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Times New Roman"/>
                <a:ea typeface="Times New Roman"/>
                <a:cs typeface="Times New Roman"/>
                <a:sym typeface="Times New Roman"/>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7" name="Google Shape;27;p1"/>
          <p:cNvSpPr txBox="1"/>
          <p:nvPr>
            <p:ph idx="10" type="dt"/>
          </p:nvPr>
        </p:nvSpPr>
        <p:spPr>
          <a:xfrm>
            <a:off x="457200" y="6356520"/>
            <a:ext cx="213336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8" name="Google Shape;28;p1"/>
          <p:cNvSpPr txBox="1"/>
          <p:nvPr>
            <p:ph idx="11" type="ftr"/>
          </p:nvPr>
        </p:nvSpPr>
        <p:spPr>
          <a:xfrm>
            <a:off x="3124080" y="6356520"/>
            <a:ext cx="2895120" cy="36468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9" name="Google Shape;29;p1"/>
          <p:cNvSpPr txBox="1"/>
          <p:nvPr>
            <p:ph idx="12" type="sldNum"/>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1pPr>
            <a:lvl2pPr indent="0" lvl="1"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2pPr>
            <a:lvl3pPr indent="0" lvl="2"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3pPr>
            <a:lvl4pPr indent="0" lvl="3"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4pPr>
            <a:lvl5pPr indent="0" lvl="4"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5pPr>
            <a:lvl6pPr indent="0" lvl="5"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6pPr>
            <a:lvl7pPr indent="0" lvl="6"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7pPr>
            <a:lvl8pPr indent="0" lvl="7"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8pPr>
            <a:lvl9pPr indent="0" lvl="8" marL="0" marR="0" rtl="0" algn="r">
              <a:spcBef>
                <a:spcPts val="0"/>
              </a:spcBef>
              <a:buNone/>
              <a:defRPr b="0" i="0" sz="1200" u="none" cap="none" strike="noStrike">
                <a:solidFill>
                  <a:srgbClr val="898989"/>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chemeClr val="dk1"/>
              </a:solidFil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4"/>
          <p:cNvSpPr txBox="1"/>
          <p:nvPr/>
        </p:nvSpPr>
        <p:spPr>
          <a:xfrm>
            <a:off x="0" y="858215"/>
            <a:ext cx="9144000" cy="601736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Project Presentation of Industry Oriented Hands on Experience (22CS422)</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1" i="0" lang="en-US" sz="2000" u="none" cap="none" strike="noStrike">
                <a:solidFill>
                  <a:schemeClr val="dk1"/>
                </a:solidFill>
                <a:latin typeface="Times New Roman"/>
                <a:ea typeface="Times New Roman"/>
                <a:cs typeface="Times New Roman"/>
                <a:sym typeface="Times New Roman"/>
              </a:rPr>
              <a:t>On</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1" i="0" lang="en-US" sz="4000" u="none" cap="none" strike="noStrike">
                <a:solidFill>
                  <a:srgbClr val="3A30FA"/>
                </a:solidFill>
                <a:latin typeface="Times New Roman"/>
                <a:ea typeface="Times New Roman"/>
                <a:cs typeface="Times New Roman"/>
                <a:sym typeface="Times New Roman"/>
              </a:rPr>
              <a:t> </a:t>
            </a:r>
            <a:r>
              <a:rPr b="1" i="0" lang="en-US" sz="4000" u="none" cap="none" strike="noStrike">
                <a:solidFill>
                  <a:schemeClr val="dk1"/>
                </a:solidFill>
                <a:latin typeface="Times New Roman"/>
                <a:ea typeface="Times New Roman"/>
                <a:cs typeface="Times New Roman"/>
                <a:sym typeface="Times New Roman"/>
              </a:rPr>
              <a:t>NIX - AI Coding Terminal Assistant</a:t>
            </a:r>
            <a:r>
              <a:rPr b="0" i="0" lang="en-US" sz="4000" u="none" cap="none" strike="noStrike">
                <a:solidFill>
                  <a:schemeClr val="dk1"/>
                </a:solidFill>
                <a:latin typeface="Times New Roman"/>
                <a:ea typeface="Times New Roman"/>
                <a:cs typeface="Times New Roman"/>
                <a:sym typeface="Times New Roman"/>
              </a:rPr>
              <a:t> </a:t>
            </a:r>
            <a:endParaRPr b="0" i="0" sz="4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0" i="0" sz="3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Nikhil Saini [2211981245]</a:t>
            </a:r>
            <a:br>
              <a:rPr b="0" i="0" lang="en-US" sz="2000" u="none" cap="none" strike="noStrike">
                <a:solidFill>
                  <a:schemeClr val="dk1"/>
                </a:solidFill>
                <a:latin typeface="Times New Roman"/>
                <a:ea typeface="Times New Roman"/>
                <a:cs typeface="Times New Roman"/>
                <a:sym typeface="Times New Roman"/>
              </a:rPr>
            </a:br>
            <a:r>
              <a:rPr b="0" i="0" lang="en-US" sz="2000" u="none" cap="none" strike="noStrike">
                <a:solidFill>
                  <a:schemeClr val="dk1"/>
                </a:solidFill>
                <a:latin typeface="Times New Roman"/>
                <a:ea typeface="Times New Roman"/>
                <a:cs typeface="Times New Roman"/>
                <a:sym typeface="Times New Roman"/>
              </a:rPr>
              <a:t>Akshit Mehta [2211981043]  </a:t>
            </a:r>
            <a:endParaRPr b="0"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b="1" i="0" sz="20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000" u="none" cap="none" strike="noStrike">
                <a:solidFill>
                  <a:srgbClr val="000000"/>
                </a:solidFill>
                <a:latin typeface="Times New Roman"/>
                <a:ea typeface="Times New Roman"/>
                <a:cs typeface="Times New Roman"/>
                <a:sym typeface="Times New Roman"/>
              </a:rPr>
              <a:t>Supervised By </a:t>
            </a:r>
            <a:endParaRPr b="0" i="0" sz="20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1" i="0" lang="en-US" sz="2000" u="none" cap="none" strike="noStrike">
                <a:solidFill>
                  <a:schemeClr val="dk1"/>
                </a:solidFill>
                <a:latin typeface="Times New Roman"/>
                <a:ea typeface="Times New Roman"/>
                <a:cs typeface="Times New Roman"/>
                <a:sym typeface="Times New Roman"/>
              </a:rPr>
              <a:t> Dr. Rajat Takkar</a:t>
            </a:r>
            <a:endParaRPr b="1" i="0" sz="2000" u="none" cap="none" strike="noStrike">
              <a:solidFill>
                <a:schemeClr val="dk1"/>
              </a:solidFill>
              <a:latin typeface="Times New Roman"/>
              <a:ea typeface="Times New Roman"/>
              <a:cs typeface="Times New Roman"/>
              <a:sym typeface="Times New Roman"/>
            </a:endParaRPr>
          </a:p>
          <a:p>
            <a:pPr indent="0" lvl="0" marL="0" marR="0" rtl="0" algn="l">
              <a:lnSpc>
                <a:spcPct val="15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ctr">
              <a:lnSpc>
                <a:spcPct val="100000"/>
              </a:lnSpc>
              <a:spcBef>
                <a:spcPts val="400"/>
              </a:spcBef>
              <a:spcAft>
                <a:spcPts val="0"/>
              </a:spcAft>
              <a:buNone/>
            </a:pPr>
            <a:r>
              <a:t/>
            </a:r>
            <a:endParaRPr b="0" i="0"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t/>
            </a:r>
            <a:endParaRPr sz="2200">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200" u="none" cap="none" strike="noStrike">
                <a:solidFill>
                  <a:schemeClr val="dk1"/>
                </a:solidFill>
                <a:latin typeface="Times New Roman"/>
                <a:ea typeface="Times New Roman"/>
                <a:cs typeface="Times New Roman"/>
                <a:sym typeface="Times New Roman"/>
              </a:rPr>
              <a:t>Department of Computer Science and Engineering, </a:t>
            </a:r>
            <a:endParaRPr b="0" i="0" sz="2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400"/>
              </a:spcBef>
              <a:spcAft>
                <a:spcPts val="0"/>
              </a:spcAft>
              <a:buNone/>
            </a:pPr>
            <a:r>
              <a:rPr b="0" i="0" lang="en-US" sz="2200" u="none" cap="none" strike="noStrike">
                <a:solidFill>
                  <a:schemeClr val="dk1"/>
                </a:solidFill>
                <a:latin typeface="Times New Roman"/>
                <a:ea typeface="Times New Roman"/>
                <a:cs typeface="Times New Roman"/>
                <a:sym typeface="Times New Roman"/>
              </a:rPr>
              <a:t>Chitkara University, Punjab</a:t>
            </a:r>
            <a:endParaRPr b="0" i="0" sz="22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40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640"/>
              </a:spcBef>
              <a:spcAft>
                <a:spcPts val="0"/>
              </a:spcAft>
              <a:buNone/>
            </a:pPr>
            <a:r>
              <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5"/>
          <p:cNvSpPr txBox="1"/>
          <p:nvPr/>
        </p:nvSpPr>
        <p:spPr>
          <a:xfrm>
            <a:off x="0" y="0"/>
            <a:ext cx="6553080" cy="83772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3200" u="none" cap="none" strike="noStrike">
                <a:solidFill>
                  <a:srgbClr val="000000"/>
                </a:solidFill>
                <a:latin typeface="Times New Roman"/>
                <a:ea typeface="Times New Roman"/>
                <a:cs typeface="Times New Roman"/>
                <a:sym typeface="Times New Roman"/>
              </a:rPr>
              <a:t>INTRODUCTION</a:t>
            </a:r>
            <a:endParaRPr b="1" i="0" sz="3200" u="none" cap="none" strike="noStrike">
              <a:solidFill>
                <a:srgbClr val="000000"/>
              </a:solidFill>
              <a:latin typeface="Times New Roman"/>
              <a:ea typeface="Times New Roman"/>
              <a:cs typeface="Times New Roman"/>
              <a:sym typeface="Times New Roman"/>
            </a:endParaRPr>
          </a:p>
        </p:txBody>
      </p:sp>
      <p:sp>
        <p:nvSpPr>
          <p:cNvPr id="90" name="Google Shape;90;p15"/>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91" name="Google Shape;91;p15"/>
          <p:cNvSpPr txBox="1"/>
          <p:nvPr/>
        </p:nvSpPr>
        <p:spPr>
          <a:xfrm>
            <a:off x="233045" y="977265"/>
            <a:ext cx="8743315" cy="58839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Spring Boot is one of the most widely used frameworks for Java backend development. As codebases grow in size and complexity, developers struggle to understand bean dependencies, REST endpoints, JPA entities, and service interactions — wasting valuable time navigating through files manually.</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Nix solves this problem. It is a locally-executed, AI-powered command-line assistant built specifically for Spring Boot developers. Using Tree-sitter for AST parsing, ChromaDB for vector search, and Groq LLM for intelligent responses, Nix allows developers to query their entire codebase through simple natural language — directly from the terminal.</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rPr b="0" i="0" lang="en-US" sz="2000" u="none" cap="none" strike="noStrike">
                <a:solidFill>
                  <a:schemeClr val="dk1"/>
                </a:solidFill>
                <a:latin typeface="Times New Roman"/>
                <a:ea typeface="Times New Roman"/>
                <a:cs typeface="Times New Roman"/>
                <a:sym typeface="Times New Roman"/>
              </a:rPr>
              <a:t>Unlike existing AI tools, Nix runs entirely on the developer's local machine — meaning no source code ever leaves the environment, ensuring complete privacy and making it safe for enterprise use.</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40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6"/>
          <p:cNvSpPr txBox="1"/>
          <p:nvPr>
            <p:ph type="title"/>
          </p:nvPr>
        </p:nvSpPr>
        <p:spPr>
          <a:xfrm>
            <a:off x="-1" y="0"/>
            <a:ext cx="6546273" cy="91404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3200"/>
              <a:buFont typeface="Times New Roman"/>
              <a:buNone/>
            </a:pPr>
            <a:r>
              <a:rPr b="1" lang="en-US" sz="3200"/>
              <a:t>OBJECTIVE</a:t>
            </a:r>
            <a:endParaRPr b="1" sz="3200"/>
          </a:p>
        </p:txBody>
      </p:sp>
      <p:sp>
        <p:nvSpPr>
          <p:cNvPr id="97" name="Google Shape;97;p16"/>
          <p:cNvSpPr txBox="1"/>
          <p:nvPr/>
        </p:nvSpPr>
        <p:spPr>
          <a:xfrm>
            <a:off x="240665" y="996950"/>
            <a:ext cx="8703310" cy="576389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The main objective is to develop a local, AI-based assistant that enables Spring Boot developers to interact with their codebase through natural language queries — directly from the terminal, without relying on any external service. The system reduces time spent on manual debugging, dependency tracing, and understanding complex inter-service relationships.</a:t>
            </a:r>
            <a:endParaRPr b="0" i="0" sz="20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By keeping all processing entirely local, the system ensures no proprietary source code is ever exposed to third-party services, making it viable for enterprise environments. The project also aims to improve developer onboarding, reduce cognitive load, and streamline backend development workflows through intelligent, context-aware automation.</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531495" y="0"/>
            <a:ext cx="5486040" cy="91404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3600"/>
              <a:buFont typeface="Times New Roman"/>
              <a:buNone/>
            </a:pPr>
            <a:r>
              <a:rPr b="1" lang="en-US" sz="3200"/>
              <a:t> PROBLEM STATEMENT</a:t>
            </a:r>
            <a:endParaRPr b="1" sz="3200"/>
          </a:p>
        </p:txBody>
      </p:sp>
      <p:sp>
        <p:nvSpPr>
          <p:cNvPr id="103" name="Google Shape;103;p17"/>
          <p:cNvSpPr txBox="1"/>
          <p:nvPr>
            <p:ph idx="1" type="subTitle"/>
          </p:nvPr>
        </p:nvSpPr>
        <p:spPr>
          <a:xfrm>
            <a:off x="179705" y="1111645"/>
            <a:ext cx="8964300" cy="52452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Developers working with large Spring Boot codebases struggle to understand bean dependencies, endpoint mappings, and service interactions. As projects grow in complexity, manually navigating through controllers, services, repositories, and configuration files becomes time-consuming and error-prone — especially for new team members. Existing IDEs provide limited support for deep code understanding, forcing frequent file switching that reduces productivity and slows down debugging.</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At the same time, most AI-based tools require uploading source code to external servers, raising serious concerns about data privacy and intellectual property. These tools also lack specialized understanding of Spring Boot architecture, resulting in generic and inaccurate responses. There is a clear need for a dedicated, locally-running solution that offers intelligent, context-aware analysis without compromising data security.</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8"/>
          <p:cNvSpPr txBox="1"/>
          <p:nvPr>
            <p:ph type="title"/>
          </p:nvPr>
        </p:nvSpPr>
        <p:spPr>
          <a:xfrm>
            <a:off x="0" y="0"/>
            <a:ext cx="6515100" cy="91404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3200"/>
              <a:buFont typeface="Times New Roman"/>
              <a:buNone/>
            </a:pPr>
            <a:r>
              <a:rPr b="1" lang="en-US" sz="3200"/>
              <a:t>METHODOLOGY</a:t>
            </a:r>
            <a:endParaRPr b="1" sz="3200"/>
          </a:p>
        </p:txBody>
      </p:sp>
      <p:sp>
        <p:nvSpPr>
          <p:cNvPr id="109" name="Google Shape;109;p18"/>
          <p:cNvSpPr txBox="1"/>
          <p:nvPr/>
        </p:nvSpPr>
        <p:spPr>
          <a:xfrm>
            <a:off x="136525" y="913765"/>
            <a:ext cx="8877300" cy="571055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The codebase is parsed using Tree-sitter to generate an Abstract Syntax Tree (AST), extracting key information like Spring beans, REST endpoints, JPA entities, and dependencies. This data is stored in a local JSON index for fast retrieval — with no code leaving the developer's machine.</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A conversational agent processes natural language queries and selects the appropriate Spring-aware tool to generate a response. The Groq LLM API produces context-aware outputs grounded in actual code structure. Multi-turn conversation support allows developers to ask follow-up questions and explore their codebase naturally and iteratively.</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ChromaDB is used as a vector database to store code embeddings, enabling semantic search across the codebase. This allows Nix to find contextually relevant code sections even when the exact keywords are not used in the query — making responses smarter, more accurate, and deeply aligned with the developer's actual intent.</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9"/>
          <p:cNvSpPr txBox="1"/>
          <p:nvPr>
            <p:ph type="title"/>
          </p:nvPr>
        </p:nvSpPr>
        <p:spPr>
          <a:xfrm>
            <a:off x="0" y="0"/>
            <a:ext cx="6473536" cy="91404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3200"/>
              <a:buFont typeface="Times New Roman"/>
              <a:buNone/>
            </a:pPr>
            <a:r>
              <a:rPr b="1" lang="en-US" sz="3200"/>
              <a:t>     FEATURES </a:t>
            </a:r>
            <a:endParaRPr b="1" sz="3200"/>
          </a:p>
        </p:txBody>
      </p:sp>
      <p:sp>
        <p:nvSpPr>
          <p:cNvPr id="115" name="Google Shape;115;p19"/>
          <p:cNvSpPr txBox="1"/>
          <p:nvPr/>
        </p:nvSpPr>
        <p:spPr>
          <a:xfrm>
            <a:off x="189230" y="1490345"/>
            <a:ext cx="8799195" cy="500634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24 specialized tools for analyzing bean dependencies, discovering REST endpoints, mapping JPA entities, and tracing inter-service call chains.</a:t>
            </a:r>
            <a:endParaRPr sz="20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Conversational terminal interface for easy, natural language interaction with the codebase.</a:t>
            </a:r>
            <a:endParaRPr sz="20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Runs entirely locally — no source code is ever uploaded to external servers, ensuring complete privacy.</a:t>
            </a:r>
            <a:endParaRPr sz="20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Delivers precise, structured insights grounded in actual AST data instead of generic LLM responses.</a:t>
            </a:r>
            <a:endParaRPr sz="20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Local JSON indexing for fast and efficient retrieval of extracted codebase metadata.</a:t>
            </a:r>
            <a:endParaRPr sz="20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 Zero setup overhead — works directly inside the existing terminal workflow with no plugins required.</a:t>
            </a:r>
            <a:endParaRPr sz="20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000"/>
              <a:buFont typeface="Arial"/>
              <a:buChar char="•"/>
            </a:pPr>
            <a:r>
              <a:rPr lang="en-US" sz="2000">
                <a:solidFill>
                  <a:schemeClr val="dk1"/>
                </a:solidFill>
                <a:latin typeface="Times New Roman"/>
                <a:ea typeface="Times New Roman"/>
                <a:cs typeface="Times New Roman"/>
                <a:sym typeface="Times New Roman"/>
              </a:rPr>
              <a:t>Supports onboarding of new developers by making unfamiliar codebases instantly queryable</a:t>
            </a:r>
            <a:endParaRPr sz="2000">
              <a:solidFill>
                <a:schemeClr val="dk1"/>
              </a:solidFill>
              <a:latin typeface="Times New Roman"/>
              <a:ea typeface="Times New Roman"/>
              <a:cs typeface="Times New Roman"/>
              <a:sym typeface="Times New Roman"/>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a:p>
            <a:pPr indent="-215900" lvl="0" marL="342900" marR="0" rtl="0" algn="l">
              <a:spcBef>
                <a:spcPts val="0"/>
              </a:spcBef>
              <a:spcAft>
                <a:spcPts val="0"/>
              </a:spcAft>
              <a:buClr>
                <a:schemeClr val="dk1"/>
              </a:buClr>
              <a:buSzPts val="2000"/>
              <a:buFont typeface="Arial"/>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type="title"/>
          </p:nvPr>
        </p:nvSpPr>
        <p:spPr>
          <a:xfrm>
            <a:off x="0" y="0"/>
            <a:ext cx="5486040" cy="914040"/>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4400"/>
              <a:buFont typeface="Times New Roman"/>
              <a:buNone/>
            </a:pPr>
            <a:r>
              <a:rPr b="1" lang="en-US" sz="3200"/>
              <a:t>     </a:t>
            </a:r>
            <a:r>
              <a:rPr b="1" lang="en-US" sz="3200"/>
              <a:t>Technology</a:t>
            </a:r>
            <a:r>
              <a:rPr b="1" lang="en-US" sz="3200"/>
              <a:t> Stack</a:t>
            </a:r>
            <a:endParaRPr b="1" sz="3200"/>
          </a:p>
        </p:txBody>
      </p:sp>
      <p:sp>
        <p:nvSpPr>
          <p:cNvPr id="121" name="Google Shape;121;p20"/>
          <p:cNvSpPr txBox="1"/>
          <p:nvPr/>
        </p:nvSpPr>
        <p:spPr>
          <a:xfrm>
            <a:off x="169545" y="1321435"/>
            <a:ext cx="8832215" cy="59753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Python — Primary programming language for flexibility and strong AI/parsing ecosystem</a:t>
            </a:r>
            <a:endParaRPr sz="1800">
              <a:solidFill>
                <a:schemeClr val="dk1"/>
              </a:solidFill>
              <a:latin typeface="Arial"/>
              <a:ea typeface="Arial"/>
              <a:cs typeface="Arial"/>
              <a:sym typeface="Arial"/>
            </a:endParaRPr>
          </a:p>
          <a:p>
            <a:pPr indent="-342900" lvl="0" marL="3429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Tree-sitter — Parses Java code and generates Abstract Syntax Trees for accurate structural code analysis</a:t>
            </a:r>
            <a:endParaRPr sz="1800">
              <a:solidFill>
                <a:schemeClr val="dk1"/>
              </a:solidFill>
              <a:latin typeface="Arial"/>
              <a:ea typeface="Arial"/>
              <a:cs typeface="Arial"/>
              <a:sym typeface="Arial"/>
            </a:endParaRPr>
          </a:p>
          <a:p>
            <a:pPr indent="-342900" lvl="0" marL="3429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ChromaDB — Vector database used for storing and retrieving code embeddings for semantic search</a:t>
            </a:r>
            <a:endParaRPr sz="1800">
              <a:solidFill>
                <a:schemeClr val="dk1"/>
              </a:solidFill>
              <a:latin typeface="Arial"/>
              <a:ea typeface="Arial"/>
              <a:cs typeface="Arial"/>
              <a:sym typeface="Arial"/>
            </a:endParaRPr>
          </a:p>
          <a:p>
            <a:pPr indent="-342900" lvl="0" marL="3429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Groq LLM API — Powers the AI component for fast, accurate, and context-aware natural language responses</a:t>
            </a:r>
            <a:endParaRPr sz="1800">
              <a:solidFill>
                <a:schemeClr val="dk1"/>
              </a:solidFill>
              <a:latin typeface="Arial"/>
              <a:ea typeface="Arial"/>
              <a:cs typeface="Arial"/>
              <a:sym typeface="Arial"/>
            </a:endParaRPr>
          </a:p>
          <a:p>
            <a:pPr indent="-342900" lvl="0" marL="3429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CLI (Command-Line Interface) — Lightweight terminal-based operation with easy integration into developer workflows</a:t>
            </a:r>
            <a:endParaRPr sz="1800">
              <a:solidFill>
                <a:schemeClr val="dk1"/>
              </a:solidFill>
              <a:latin typeface="Arial"/>
              <a:ea typeface="Arial"/>
              <a:cs typeface="Arial"/>
              <a:sym typeface="Arial"/>
            </a:endParaRPr>
          </a:p>
          <a:p>
            <a:pPr indent="-342900" lvl="0" marL="342900" marR="0" rtl="0" algn="l">
              <a:lnSpc>
                <a:spcPct val="110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Abstract Syntax Tree (AST) — Core data structure used to represent and analyze Java code structure precisely</a:t>
            </a:r>
            <a:endParaRPr sz="1800">
              <a:solidFill>
                <a:schemeClr val="dk1"/>
              </a:solidFill>
              <a:latin typeface="Arial"/>
              <a:ea typeface="Arial"/>
              <a:cs typeface="Arial"/>
              <a:sym typeface="Arial"/>
            </a:endParaRPr>
          </a:p>
          <a:p>
            <a:pPr indent="-228600" lvl="0" marL="342900" marR="0" rtl="0" algn="l">
              <a:lnSpc>
                <a:spcPct val="110000"/>
              </a:lnSpc>
              <a:spcBef>
                <a:spcPts val="0"/>
              </a:spcBef>
              <a:spcAft>
                <a:spcPts val="0"/>
              </a:spcAft>
              <a:buClr>
                <a:schemeClr val="dk1"/>
              </a:buClr>
              <a:buSzPts val="1800"/>
              <a:buFont typeface="Arial"/>
              <a:buNone/>
            </a:pPr>
            <a:r>
              <a:t/>
            </a:r>
            <a:endParaRPr sz="1800">
              <a:solidFill>
                <a:schemeClr val="dk1"/>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1"/>
          <p:cNvSpPr txBox="1"/>
          <p:nvPr>
            <p:ph type="title"/>
          </p:nvPr>
        </p:nvSpPr>
        <p:spPr>
          <a:xfrm>
            <a:off x="-1" y="0"/>
            <a:ext cx="6525491" cy="831273"/>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3200"/>
              <a:buFont typeface="Times New Roman"/>
              <a:buNone/>
            </a:pPr>
            <a:r>
              <a:rPr b="1" lang="en-US" sz="3200"/>
              <a:t>OUTCOMES</a:t>
            </a:r>
            <a:endParaRPr b="1" sz="3200"/>
          </a:p>
        </p:txBody>
      </p:sp>
      <p:sp>
        <p:nvSpPr>
          <p:cNvPr id="127" name="Google Shape;127;p21"/>
          <p:cNvSpPr txBox="1"/>
          <p:nvPr>
            <p:ph idx="1" type="subTitle"/>
          </p:nvPr>
        </p:nvSpPr>
        <p:spPr>
          <a:xfrm>
            <a:off x="323215" y="999490"/>
            <a:ext cx="8496935" cy="445833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Developers quickly understand complex bean dependencies and service interactions without navigating multiple files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Reduces debugging time by providing direct, structured answers to natural language queries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Improves onboarding — new developers can understand unfamiliar codebases faster</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Local-first approach ensures complete data privacy, making it suitable for enterprise environments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Demonstrates effective AI integration into development workflows to simplify complex tasks</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7">
                                            <p:txEl>
                                              <p:pRg end="0" st="0"/>
                                            </p:txEl>
                                          </p:spTgt>
                                        </p:tgtEl>
                                        <p:attrNameLst>
                                          <p:attrName>style.visibility</p:attrName>
                                        </p:attrNameLst>
                                      </p:cBhvr>
                                      <p:to>
                                        <p:strVal val="visible"/>
                                      </p:to>
                                    </p:set>
                                    <p:animEffect filter="fade" transition="in">
                                      <p:cBhvr>
                                        <p:cTn dur="1000"/>
                                        <p:tgtEl>
                                          <p:spTgt spid="127">
                                            <p:txEl>
                                              <p:pRg end="0" st="0"/>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7">
                                            <p:txEl>
                                              <p:pRg end="1" st="1"/>
                                            </p:txEl>
                                          </p:spTgt>
                                        </p:tgtEl>
                                        <p:attrNameLst>
                                          <p:attrName>style.visibility</p:attrName>
                                        </p:attrNameLst>
                                      </p:cBhvr>
                                      <p:to>
                                        <p:strVal val="visible"/>
                                      </p:to>
                                    </p:set>
                                    <p:animEffect filter="fade" transition="in">
                                      <p:cBhvr>
                                        <p:cTn dur="1000"/>
                                        <p:tgtEl>
                                          <p:spTgt spid="127">
                                            <p:txEl>
                                              <p:pRg end="1" st="1"/>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7">
                                            <p:txEl>
                                              <p:pRg end="2" st="2"/>
                                            </p:txEl>
                                          </p:spTgt>
                                        </p:tgtEl>
                                        <p:attrNameLst>
                                          <p:attrName>style.visibility</p:attrName>
                                        </p:attrNameLst>
                                      </p:cBhvr>
                                      <p:to>
                                        <p:strVal val="visible"/>
                                      </p:to>
                                    </p:set>
                                    <p:animEffect filter="fade" transition="in">
                                      <p:cBhvr>
                                        <p:cTn dur="1000"/>
                                        <p:tgtEl>
                                          <p:spTgt spid="127">
                                            <p:txEl>
                                              <p:pRg end="2" st="2"/>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7">
                                            <p:txEl>
                                              <p:pRg end="3" st="3"/>
                                            </p:txEl>
                                          </p:spTgt>
                                        </p:tgtEl>
                                        <p:attrNameLst>
                                          <p:attrName>style.visibility</p:attrName>
                                        </p:attrNameLst>
                                      </p:cBhvr>
                                      <p:to>
                                        <p:strVal val="visible"/>
                                      </p:to>
                                    </p:set>
                                    <p:animEffect filter="fade" transition="in">
                                      <p:cBhvr>
                                        <p:cTn dur="1000"/>
                                        <p:tgtEl>
                                          <p:spTgt spid="127">
                                            <p:txEl>
                                              <p:pRg end="3" st="3"/>
                                            </p:txEl>
                                          </p:spTgt>
                                        </p:tgtEl>
                                      </p:cBhvr>
                                    </p:animEffect>
                                  </p:childTnLst>
                                </p:cTn>
                              </p:par>
                              <p:par>
                                <p:cTn fill="hold" nodeType="withEffect" presetClass="entr" presetID="10" presetSubtype="0">
                                  <p:stCondLst>
                                    <p:cond delay="0"/>
                                  </p:stCondLst>
                                  <p:childTnLst>
                                    <p:set>
                                      <p:cBhvr>
                                        <p:cTn dur="1" fill="hold">
                                          <p:stCondLst>
                                            <p:cond delay="0"/>
                                          </p:stCondLst>
                                        </p:cTn>
                                        <p:tgtEl>
                                          <p:spTgt spid="127">
                                            <p:txEl>
                                              <p:pRg end="4" st="4"/>
                                            </p:txEl>
                                          </p:spTgt>
                                        </p:tgtEl>
                                        <p:attrNameLst>
                                          <p:attrName>style.visibility</p:attrName>
                                        </p:attrNameLst>
                                      </p:cBhvr>
                                      <p:to>
                                        <p:strVal val="visible"/>
                                      </p:to>
                                    </p:set>
                                    <p:animEffect filter="fade" transition="in">
                                      <p:cBhvr>
                                        <p:cTn dur="1000"/>
                                        <p:tgtEl>
                                          <p:spTgt spid="12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2"/>
          <p:cNvSpPr txBox="1"/>
          <p:nvPr>
            <p:ph type="title"/>
          </p:nvPr>
        </p:nvSpPr>
        <p:spPr>
          <a:xfrm>
            <a:off x="127000" y="0"/>
            <a:ext cx="5486040" cy="914040"/>
          </a:xfrm>
          <a:prstGeom prst="rect">
            <a:avLst/>
          </a:prstGeom>
          <a:noFill/>
          <a:ln>
            <a:noFill/>
          </a:ln>
        </p:spPr>
        <p:txBody>
          <a:bodyPr anchorCtr="0" anchor="ctr" bIns="0" lIns="0" spcFirstLastPara="1" rIns="0" wrap="square" tIns="0">
            <a:noAutofit/>
          </a:bodyPr>
          <a:lstStyle/>
          <a:p>
            <a:pPr indent="0" lvl="0" marL="0" rtl="0" algn="l">
              <a:lnSpc>
                <a:spcPct val="90000"/>
              </a:lnSpc>
              <a:spcBef>
                <a:spcPts val="0"/>
              </a:spcBef>
              <a:spcAft>
                <a:spcPts val="0"/>
              </a:spcAft>
              <a:buClr>
                <a:schemeClr val="dk1"/>
              </a:buClr>
              <a:buSzPts val="4400"/>
              <a:buFont typeface="Times New Roman"/>
              <a:buNone/>
            </a:pPr>
            <a:r>
              <a:rPr b="1" lang="en-US"/>
              <a:t>          </a:t>
            </a:r>
            <a:r>
              <a:rPr b="1" lang="en-US" sz="3200"/>
              <a:t>FUTURE SCOPE</a:t>
            </a:r>
            <a:endParaRPr b="1" sz="3200"/>
          </a:p>
        </p:txBody>
      </p:sp>
      <p:sp>
        <p:nvSpPr>
          <p:cNvPr id="133" name="Google Shape;133;p22"/>
          <p:cNvSpPr txBox="1"/>
          <p:nvPr>
            <p:ph idx="1" type="subTitle"/>
          </p:nvPr>
        </p:nvSpPr>
        <p:spPr>
          <a:xfrm>
            <a:off x="228590" y="955955"/>
            <a:ext cx="8750400" cy="53511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Extend support to additional frameworks like Quarkus, Micronaut, and Ktor beyond Spring Boot</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Develop a graphical user interface (GUI) for improved usability and accessibility</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Add automated code quality analysis to surface anti-patterns and refactoring opportunities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Integrate fully offline local LLM support via Ollama or LM Studio for air-gapped environments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Expand ChromaDB vector search for deeper semantic code understanding and similarity matching</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Add microservices architecture analysis — mapping cross-service dependencies and API contracts automatically</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Introduce automated test case generation based on existing endpoint and entity structures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90000"/>
              </a:lnSpc>
              <a:spcBef>
                <a:spcPts val="0"/>
              </a:spcBef>
              <a:spcAft>
                <a:spcPts val="0"/>
              </a:spcAft>
              <a:buClr>
                <a:schemeClr val="dk1"/>
              </a:buClr>
              <a:buSzPts val="2000"/>
              <a:buFont typeface="Times New Roman"/>
              <a:buNone/>
            </a:pPr>
            <a:r>
              <a:rPr b="0" i="0" lang="en-US" sz="2000" u="none" cap="none" strike="noStrike">
                <a:solidFill>
                  <a:schemeClr val="dk1"/>
                </a:solidFill>
                <a:latin typeface="Times New Roman"/>
                <a:ea typeface="Times New Roman"/>
                <a:cs typeface="Times New Roman"/>
                <a:sym typeface="Times New Roman"/>
              </a:rPr>
              <a:t>Build a team collaboration mode allowing multiple developers to share a common indexed codebase</a:t>
            </a:r>
            <a:endParaRPr b="0" i="0" sz="20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1" y="0"/>
            <a:ext cx="6504709" cy="852055"/>
          </a:xfrm>
          <a:prstGeom prst="rect">
            <a:avLst/>
          </a:prstGeom>
          <a:noFill/>
          <a:ln>
            <a:noFill/>
          </a:ln>
        </p:spPr>
        <p:txBody>
          <a:bodyPr anchorCtr="0" anchor="ctr" bIns="0" lIns="0" spcFirstLastPara="1" rIns="0" wrap="square" tIns="0">
            <a:noAutofit/>
          </a:bodyPr>
          <a:lstStyle/>
          <a:p>
            <a:pPr indent="0" lvl="0" marL="0" rtl="0" algn="ctr">
              <a:lnSpc>
                <a:spcPct val="90000"/>
              </a:lnSpc>
              <a:spcBef>
                <a:spcPts val="0"/>
              </a:spcBef>
              <a:spcAft>
                <a:spcPts val="0"/>
              </a:spcAft>
              <a:buClr>
                <a:schemeClr val="dk1"/>
              </a:buClr>
              <a:buSzPts val="3200"/>
              <a:buFont typeface="Times New Roman"/>
              <a:buNone/>
            </a:pPr>
            <a:r>
              <a:rPr b="1" lang="en-US" sz="3200"/>
              <a:t>CONCLUSION </a:t>
            </a:r>
            <a:endParaRPr b="1" sz="3200"/>
          </a:p>
        </p:txBody>
      </p:sp>
      <p:sp>
        <p:nvSpPr>
          <p:cNvPr id="139" name="Google Shape;139;p23"/>
          <p:cNvSpPr txBox="1"/>
          <p:nvPr/>
        </p:nvSpPr>
        <p:spPr>
          <a:xfrm>
            <a:off x="141605" y="938530"/>
            <a:ext cx="8888730" cy="5276215"/>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1800">
              <a:solidFill>
                <a:schemeClr val="dk1"/>
              </a:solidFill>
              <a:latin typeface="Arial"/>
              <a:ea typeface="Arial"/>
              <a:cs typeface="Arial"/>
              <a:sym typeface="Arial"/>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Nix successfully addresses the core challenges faced by Spring Boot developers by providing a local, AI-powered assistant for code analysis, debugging, and codebase exploration. By combining Tree-sitter AST parsing, ChromaDB vector search, and Groq LLM inference, it delivers fast, structured, and context-aware responses grounded in actual project structure — not generalized assumptions.</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000">
                <a:solidFill>
                  <a:schemeClr val="dk1"/>
                </a:solidFill>
                <a:latin typeface="Times New Roman"/>
                <a:ea typeface="Times New Roman"/>
                <a:cs typeface="Times New Roman"/>
                <a:sym typeface="Times New Roman"/>
              </a:rPr>
              <a:t>Overall, Nix demonstrates the real potential of combining AI with static code analysis to build intelligent, developer-friendly tools — paving the way for a smarter and more efficient approach to modern Java backend development.</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4"/>
          <p:cNvSpPr txBox="1"/>
          <p:nvPr/>
        </p:nvSpPr>
        <p:spPr>
          <a:xfrm>
            <a:off x="1012723" y="2723606"/>
            <a:ext cx="6705599" cy="1410788"/>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lang="en-US" sz="5400">
                <a:solidFill>
                  <a:schemeClr val="dk1"/>
                </a:solidFill>
                <a:latin typeface="Times New Roman"/>
                <a:ea typeface="Times New Roman"/>
                <a:cs typeface="Times New Roman"/>
                <a:sym typeface="Times New Roman"/>
              </a:rPr>
              <a:t>Thank You</a:t>
            </a:r>
            <a:endParaRPr b="0" sz="5400" strike="noStrike">
              <a:solidFill>
                <a:srgbClr val="000000"/>
              </a:solidFill>
              <a:latin typeface="Times New Roman"/>
              <a:ea typeface="Times New Roman"/>
              <a:cs typeface="Times New Roman"/>
              <a:sym typeface="Times New Roman"/>
            </a:endParaRPr>
          </a:p>
        </p:txBody>
      </p:sp>
      <p:sp>
        <p:nvSpPr>
          <p:cNvPr id="145" name="Google Shape;145;p24"/>
          <p:cNvSpPr txBox="1"/>
          <p:nvPr/>
        </p:nvSpPr>
        <p:spPr>
          <a:xfrm>
            <a:off x="6553080" y="6356520"/>
            <a:ext cx="2133360" cy="36468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1" lang="en-US" sz="1200" strike="noStrike">
                <a:solidFill>
                  <a:srgbClr val="000000"/>
                </a:solidFill>
                <a:latin typeface="Times New Roman"/>
                <a:ea typeface="Times New Roman"/>
                <a:cs typeface="Times New Roman"/>
                <a:sym typeface="Times New Roman"/>
              </a:rPr>
              <a:t>‹#›</a:t>
            </a:fld>
            <a:endParaRPr b="0" sz="1200"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